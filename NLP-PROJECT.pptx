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07" r:id="rId6"/>
    <p:sldId id="318" r:id="rId7"/>
    <p:sldId id="308" r:id="rId8"/>
    <p:sldId id="278" r:id="rId9"/>
    <p:sldId id="309" r:id="rId10"/>
    <p:sldId id="263" r:id="rId11"/>
    <p:sldId id="310" r:id="rId12"/>
    <p:sldId id="321" r:id="rId13"/>
    <p:sldId id="320" r:id="rId14"/>
    <p:sldId id="319" r:id="rId15"/>
    <p:sldId id="322"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59" d="100"/>
          <a:sy n="59" d="100"/>
        </p:scale>
        <p:origin x="964" y="5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4/15/2026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SKILL SWAP – HYPERLOCAL SKILL EXCHANGE WEB APPLICATION.</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dirty="0">
                <a:solidFill>
                  <a:schemeClr val="tx1"/>
                </a:solidFill>
              </a:rPr>
              <a:t>TEAM DETAILS:</a:t>
            </a:r>
            <a:br>
              <a:rPr lang="en-US" dirty="0">
                <a:solidFill>
                  <a:schemeClr val="tx1"/>
                </a:solidFill>
              </a:rPr>
            </a:br>
            <a:br>
              <a:rPr lang="en-US" dirty="0">
                <a:solidFill>
                  <a:schemeClr val="tx1"/>
                </a:solidFill>
              </a:rPr>
            </a:br>
            <a:r>
              <a:rPr lang="en-US" dirty="0">
                <a:solidFill>
                  <a:schemeClr val="tx1"/>
                </a:solidFill>
              </a:rPr>
              <a:t>GUIDE NAME :</a:t>
            </a:r>
            <a:br>
              <a:rPr lang="en-US" dirty="0">
                <a:solidFill>
                  <a:schemeClr val="tx1"/>
                </a:solidFill>
              </a:rPr>
            </a:br>
            <a:r>
              <a:rPr lang="en-US" dirty="0">
                <a:solidFill>
                  <a:schemeClr val="tx1"/>
                </a:solidFill>
              </a:rPr>
              <a:t>DR.V.VENKATARAMANA.</a:t>
            </a:r>
            <a:endParaRPr lang="en-US" dirty="0"/>
          </a:p>
        </p:txBody>
      </p:sp>
      <p:sp>
        <p:nvSpPr>
          <p:cNvPr id="4" name="Content Placeholder 3">
            <a:extLst>
              <a:ext uri="{FF2B5EF4-FFF2-40B4-BE49-F238E27FC236}">
                <a16:creationId xmlns:a16="http://schemas.microsoft.com/office/drawing/2014/main" id="{23EDF1D3-5590-9EB7-2498-B573E5603EE3}"/>
              </a:ext>
            </a:extLst>
          </p:cNvPr>
          <p:cNvSpPr>
            <a:spLocks noGrp="1"/>
          </p:cNvSpPr>
          <p:nvPr>
            <p:ph idx="1"/>
          </p:nvPr>
        </p:nvSpPr>
        <p:spPr>
          <a:xfrm>
            <a:off x="6770915" y="1143000"/>
            <a:ext cx="3537856" cy="4679830"/>
          </a:xfrm>
        </p:spPr>
        <p:txBody>
          <a:bodyPr>
            <a:normAutofit/>
          </a:bodyPr>
          <a:lstStyle/>
          <a:p>
            <a:r>
              <a:rPr lang="en-US" b="1" dirty="0"/>
              <a:t>  	</a:t>
            </a:r>
          </a:p>
          <a:p>
            <a:r>
              <a:rPr lang="en-US" b="1" dirty="0"/>
              <a:t>2403A52260 – VEMULA AKSHAYA REDDY </a:t>
            </a:r>
          </a:p>
          <a:p>
            <a:r>
              <a:rPr lang="en-US" b="1" dirty="0"/>
              <a:t>2403A52267 – GUNDU DEEKSHITHA VARMA </a:t>
            </a:r>
          </a:p>
          <a:p>
            <a:r>
              <a:rPr lang="en-US" b="1" dirty="0"/>
              <a:t>2403A52273 – THANGALAPALLY HASINI</a:t>
            </a:r>
          </a:p>
          <a:p>
            <a:r>
              <a:rPr lang="en-US" b="1" dirty="0"/>
              <a:t>      BATCH - 10 </a:t>
            </a:r>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880AA-0415-4B1A-B801-9152019FCFC8}"/>
              </a:ext>
            </a:extLst>
          </p:cNvPr>
          <p:cNvSpPr>
            <a:spLocks noGrp="1"/>
          </p:cNvSpPr>
          <p:nvPr>
            <p:ph type="title"/>
          </p:nvPr>
        </p:nvSpPr>
        <p:spPr>
          <a:xfrm>
            <a:off x="402771" y="914400"/>
            <a:ext cx="4452258" cy="5029200"/>
          </a:xfrm>
        </p:spPr>
        <p:txBody>
          <a:bodyPr/>
          <a:lstStyle/>
          <a:p>
            <a:r>
              <a:rPr lang="en-US" b="1" dirty="0">
                <a:solidFill>
                  <a:schemeClr val="bg2">
                    <a:lumMod val="10000"/>
                  </a:schemeClr>
                </a:solidFill>
              </a:rPr>
              <a:t>Problem Statement</a:t>
            </a:r>
          </a:p>
        </p:txBody>
      </p:sp>
      <p:sp>
        <p:nvSpPr>
          <p:cNvPr id="4" name="Rectangle 1">
            <a:extLst>
              <a:ext uri="{FF2B5EF4-FFF2-40B4-BE49-F238E27FC236}">
                <a16:creationId xmlns:a16="http://schemas.microsoft.com/office/drawing/2014/main" id="{25ECD705-C57E-A9B0-3824-3081C867C794}"/>
              </a:ext>
            </a:extLst>
          </p:cNvPr>
          <p:cNvSpPr>
            <a:spLocks noGrp="1" noChangeArrowheads="1"/>
          </p:cNvSpPr>
          <p:nvPr>
            <p:ph idx="1"/>
          </p:nvPr>
        </p:nvSpPr>
        <p:spPr bwMode="auto">
          <a:xfrm>
            <a:off x="6868956" y="2051755"/>
            <a:ext cx="53230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Many students want to learn new skills but cannot afford paid courses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Skilled individuals lack a platform to share their knowledge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Existing platforms focus on one-way learning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No proper system for local skill exchange </a:t>
            </a:r>
          </a:p>
        </p:txBody>
      </p:sp>
    </p:spTree>
    <p:extLst>
      <p:ext uri="{BB962C8B-B14F-4D97-AF65-F5344CB8AC3E}">
        <p14:creationId xmlns:p14="http://schemas.microsoft.com/office/powerpoint/2010/main" val="2617121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544285" y="653143"/>
            <a:ext cx="5641848" cy="5029200"/>
          </a:xfrm>
        </p:spPr>
        <p:txBody>
          <a:bodyPr/>
          <a:lstStyle/>
          <a:p>
            <a:br>
              <a:rPr lang="en-US" dirty="0"/>
            </a:br>
            <a:r>
              <a:rPr lang="en-US" dirty="0"/>
              <a:t>OBJECTIVES</a:t>
            </a:r>
            <a:br>
              <a:rPr lang="en-US" dirty="0"/>
            </a:br>
            <a:r>
              <a:rPr lang="en-US" dirty="0"/>
              <a:t> </a:t>
            </a:r>
            <a:br>
              <a:rPr lang="en-US" dirty="0"/>
            </a:br>
            <a:r>
              <a:rPr lang="en-US" sz="2400" dirty="0"/>
              <a:t>-&gt;To create a platform for skill exchanging without money.</a:t>
            </a:r>
            <a:br>
              <a:rPr lang="en-US" sz="2400" dirty="0"/>
            </a:br>
            <a:br>
              <a:rPr lang="en-US" sz="2400" dirty="0"/>
            </a:br>
            <a:r>
              <a:rPr lang="en-US" sz="2400" b="1" dirty="0"/>
              <a:t>-&gt; </a:t>
            </a:r>
            <a:r>
              <a:rPr lang="en-US" sz="2400" dirty="0"/>
              <a:t>To encourage peer-to-peer learning.</a:t>
            </a:r>
            <a:br>
              <a:rPr lang="en-US" sz="2400" dirty="0"/>
            </a:br>
            <a:br>
              <a:rPr lang="en-US" sz="2400" dirty="0"/>
            </a:br>
            <a:r>
              <a:rPr lang="en-US" sz="2400" dirty="0"/>
              <a:t>-&gt;To connect students and local community members based on skills.</a:t>
            </a:r>
            <a:br>
              <a:rPr lang="en-US" sz="2400" dirty="0"/>
            </a:br>
            <a:br>
              <a:rPr lang="en-US" sz="2400" dirty="0"/>
            </a:br>
            <a:r>
              <a:rPr lang="en-US" sz="2400" dirty="0"/>
              <a:t>-&gt;To provide a digital portfolio for users.</a:t>
            </a:r>
            <a:br>
              <a:rPr lang="en-US" sz="2400" dirty="0"/>
            </a:br>
            <a:br>
              <a:rPr lang="en-US" sz="2400" dirty="0"/>
            </a:br>
            <a:r>
              <a:rPr lang="en-US" sz="2400" dirty="0"/>
              <a:t>-&gt;To promote collaborative learning in local areas.</a:t>
            </a:r>
            <a:br>
              <a:rPr lang="en-US" sz="2400" dirty="0"/>
            </a:br>
            <a:r>
              <a:rPr lang="en-US" sz="2400" dirty="0"/>
              <a:t> </a:t>
            </a:r>
            <a:br>
              <a:rPr lang="en-US" sz="2400" dirty="0"/>
            </a:br>
            <a:r>
              <a:rPr lang="en-US" sz="2400" dirty="0"/>
              <a:t>-&gt;To reduce dependency on paid learning platforms.</a:t>
            </a:r>
            <a:br>
              <a:rPr lang="en-US" sz="2400" dirty="0"/>
            </a:br>
            <a:endParaRPr lang="en-US" sz="2400" b="1" dirty="0"/>
          </a:p>
        </p:txBody>
      </p:sp>
      <p:sp>
        <p:nvSpPr>
          <p:cNvPr id="4" name="Picture Placeholder 3">
            <a:extLst>
              <a:ext uri="{FF2B5EF4-FFF2-40B4-BE49-F238E27FC236}">
                <a16:creationId xmlns:a16="http://schemas.microsoft.com/office/drawing/2014/main" id="{CBB1D917-1BD5-4D44-71CA-EDB80871F463}"/>
              </a:ext>
            </a:extLst>
          </p:cNvPr>
          <p:cNvSpPr>
            <a:spLocks noGrp="1"/>
          </p:cNvSpPr>
          <p:nvPr>
            <p:ph type="pic" idx="1"/>
          </p:nvPr>
        </p:nvSpPr>
        <p:spPr>
          <a:xfrm flipH="1">
            <a:off x="12192000" y="0"/>
            <a:ext cx="76200" cy="97971"/>
          </a:xfrm>
        </p:spPr>
      </p:sp>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4920343" y="1023257"/>
            <a:ext cx="6356686" cy="391885"/>
          </a:xfrm>
        </p:spPr>
        <p:txBody>
          <a:bodyPr anchor="b"/>
          <a:lstStyle/>
          <a:p>
            <a:r>
              <a:rPr lang="en-US" dirty="0"/>
              <a:t>Stakeholders:</a:t>
            </a:r>
          </a:p>
        </p:txBody>
      </p:sp>
      <p:pic>
        <p:nvPicPr>
          <p:cNvPr id="10" name="Picture Placeholder 9">
            <a:extLst>
              <a:ext uri="{FF2B5EF4-FFF2-40B4-BE49-F238E27FC236}">
                <a16:creationId xmlns:a16="http://schemas.microsoft.com/office/drawing/2014/main" id="{DCAFC513-24D5-1F5E-8D1A-70AD80890059}"/>
              </a:ext>
            </a:extLst>
          </p:cNvPr>
          <p:cNvPicPr>
            <a:picLocks noGrp="1" noChangeAspect="1"/>
          </p:cNvPicPr>
          <p:nvPr>
            <p:ph type="pic" sz="quarter" idx="11"/>
          </p:nvPr>
        </p:nvPicPr>
        <p:blipFill>
          <a:blip r:embed="rId3"/>
          <a:srcRect l="24497" r="24497"/>
          <a:stretch>
            <a:fillRect/>
          </a:stretch>
        </p:blipFill>
        <p:spPr>
          <a:xfrm>
            <a:off x="-2" y="0"/>
            <a:ext cx="5246397" cy="685800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rgbClr val="E5DACF"/>
          </a:solidFill>
        </p:spPr>
      </p:pic>
      <p:sp>
        <p:nvSpPr>
          <p:cNvPr id="8" name="Rectangle 1">
            <a:extLst>
              <a:ext uri="{FF2B5EF4-FFF2-40B4-BE49-F238E27FC236}">
                <a16:creationId xmlns:a16="http://schemas.microsoft.com/office/drawing/2014/main" id="{E2212A59-0206-1F52-4F14-FE0ED23C2E1B}"/>
              </a:ext>
            </a:extLst>
          </p:cNvPr>
          <p:cNvSpPr>
            <a:spLocks noGrp="1" noChangeArrowheads="1"/>
          </p:cNvSpPr>
          <p:nvPr>
            <p:ph idx="10"/>
          </p:nvPr>
        </p:nvSpPr>
        <p:spPr bwMode="auto">
          <a:xfrm>
            <a:off x="5551713" y="1756505"/>
            <a:ext cx="594302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AutoNum type="arabicParenR"/>
              <a:tabLst/>
            </a:pPr>
            <a:r>
              <a:rPr kumimoji="0" lang="en-US" altLang="en-US" sz="2800" b="0" i="0" u="none" strike="noStrike" cap="none" normalizeH="0" baseline="0" dirty="0">
                <a:ln>
                  <a:noFill/>
                </a:ln>
                <a:solidFill>
                  <a:schemeClr val="tx1"/>
                </a:solidFill>
                <a:effectLst/>
                <a:latin typeface="Arial" panose="020B0604020202020204" pitchFamily="34" charset="0"/>
              </a:rPr>
              <a:t>Students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2) Homemakers</a:t>
            </a:r>
          </a:p>
          <a:p>
            <a:pPr marL="0" marR="0" lvl="0" indent="0" algn="l" defTabSz="914400" rtl="0" eaLnBrk="0" fontAlgn="base" latinLnBrk="0" hangingPunct="0">
              <a:lnSpc>
                <a:spcPct val="100000"/>
              </a:lnSpc>
              <a:spcBef>
                <a:spcPct val="0"/>
              </a:spcBef>
              <a:spcAft>
                <a:spcPct val="0"/>
              </a:spcAft>
              <a:buClrTx/>
              <a:buSzTx/>
              <a:tabLst/>
            </a:pPr>
            <a:r>
              <a:rPr lang="en-US" altLang="en-US" sz="2800" cap="none" dirty="0">
                <a:latin typeface="Arial" panose="020B0604020202020204" pitchFamily="34" charset="0"/>
              </a:rPr>
              <a:t>3) </a:t>
            </a:r>
            <a:r>
              <a:rPr kumimoji="0" lang="en-US" altLang="en-US" sz="2800" b="0" i="0" u="none" strike="noStrike" cap="none" normalizeH="0" baseline="0" dirty="0">
                <a:ln>
                  <a:noFill/>
                </a:ln>
                <a:solidFill>
                  <a:schemeClr val="tx1"/>
                </a:solidFill>
                <a:effectLst/>
                <a:latin typeface="Arial" panose="020B0604020202020204" pitchFamily="34" charset="0"/>
              </a:rPr>
              <a:t>Job seekers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4) College  faculty</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5)Local trainers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Arial" panose="020B0604020202020204" pitchFamily="34" charset="0"/>
              </a:rPr>
              <a:t>6)Community-  learners</a:t>
            </a:r>
          </a:p>
        </p:txBody>
      </p: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dirty="0"/>
              <a:t>Programming Languages, Tools &amp; Software:</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lstStyle/>
          <a:p>
            <a:pPr marL="0" indent="0">
              <a:buNone/>
            </a:pPr>
            <a:r>
              <a:rPr lang="en-US" sz="2800" b="1" dirty="0"/>
              <a:t>Frontend:</a:t>
            </a:r>
          </a:p>
          <a:p>
            <a:r>
              <a:rPr lang="en-US" sz="2400" dirty="0"/>
              <a:t>HTML</a:t>
            </a:r>
          </a:p>
          <a:p>
            <a:r>
              <a:rPr lang="en-US" sz="2400" dirty="0"/>
              <a:t>CSS</a:t>
            </a:r>
          </a:p>
          <a:p>
            <a:r>
              <a:rPr lang="en-US" sz="2400" dirty="0"/>
              <a:t>JavaScript</a:t>
            </a:r>
          </a:p>
          <a:p>
            <a:r>
              <a:rPr lang="en-US" sz="2400" dirty="0"/>
              <a:t>React.js (Optional Advanced)</a:t>
            </a:r>
          </a:p>
          <a:p>
            <a:r>
              <a:rPr lang="en-US" sz="2400" dirty="0"/>
              <a:t>Bootstrap</a:t>
            </a:r>
          </a:p>
          <a:p>
            <a:pPr marL="0" indent="0">
              <a:buNone/>
            </a:pPr>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
        <p:nvSpPr>
          <p:cNvPr id="4" name="TextBox 3">
            <a:extLst>
              <a:ext uri="{FF2B5EF4-FFF2-40B4-BE49-F238E27FC236}">
                <a16:creationId xmlns:a16="http://schemas.microsoft.com/office/drawing/2014/main" id="{74B99A0F-3471-6FD7-F29B-861947BCD517}"/>
              </a:ext>
            </a:extLst>
          </p:cNvPr>
          <p:cNvSpPr txBox="1"/>
          <p:nvPr/>
        </p:nvSpPr>
        <p:spPr>
          <a:xfrm>
            <a:off x="6096000" y="2039112"/>
            <a:ext cx="2416629" cy="2000548"/>
          </a:xfrm>
          <a:prstGeom prst="rect">
            <a:avLst/>
          </a:prstGeom>
          <a:noFill/>
        </p:spPr>
        <p:txBody>
          <a:bodyPr wrap="square">
            <a:spAutoFit/>
          </a:bodyPr>
          <a:lstStyle/>
          <a:p>
            <a:pPr>
              <a:buNone/>
            </a:pPr>
            <a:r>
              <a:rPr lang="en-US" sz="2800" b="1" dirty="0"/>
              <a:t>Backend</a:t>
            </a:r>
            <a:r>
              <a:rPr lang="en-US" b="1" dirty="0"/>
              <a:t>:</a:t>
            </a:r>
          </a:p>
          <a:p>
            <a:pPr>
              <a:buFont typeface="Arial" panose="020B0604020202020204" pitchFamily="34" charset="0"/>
              <a:buChar char="•"/>
            </a:pPr>
            <a:r>
              <a:rPr lang="en-US" sz="2400" dirty="0"/>
              <a:t>Python (Flask / Django)</a:t>
            </a:r>
            <a:br>
              <a:rPr lang="en-US" sz="2400" dirty="0"/>
            </a:br>
            <a:r>
              <a:rPr lang="en-US" sz="2400" dirty="0"/>
              <a:t>OR</a:t>
            </a:r>
          </a:p>
          <a:p>
            <a:pPr>
              <a:buFont typeface="Arial" panose="020B0604020202020204" pitchFamily="34" charset="0"/>
              <a:buChar char="•"/>
            </a:pPr>
            <a:r>
              <a:rPr lang="en-US" sz="2400" dirty="0"/>
              <a:t>Node.js</a:t>
            </a:r>
          </a:p>
        </p:txBody>
      </p:sp>
    </p:spTree>
    <p:extLst>
      <p:ext uri="{BB962C8B-B14F-4D97-AF65-F5344CB8AC3E}">
        <p14:creationId xmlns:p14="http://schemas.microsoft.com/office/powerpoint/2010/main" val="196691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185056" y="870857"/>
            <a:ext cx="9459686" cy="1883229"/>
          </a:xfrm>
        </p:spPr>
        <p:txBody>
          <a:bodyPr anchor="b"/>
          <a:lstStyle/>
          <a:p>
            <a:r>
              <a:rPr lang="en-US" sz="3600" b="1" dirty="0"/>
              <a:t>Database:</a:t>
            </a:r>
            <a:br>
              <a:rPr lang="en-US" sz="3600" b="1" dirty="0"/>
            </a:br>
            <a:br>
              <a:rPr lang="en-US" dirty="0"/>
            </a:br>
            <a:endParaRPr lang="en-US" dirty="0"/>
          </a:p>
        </p:txBody>
      </p:sp>
      <p:sp>
        <p:nvSpPr>
          <p:cNvPr id="4" name="Text Placeholder 3">
            <a:extLst>
              <a:ext uri="{FF2B5EF4-FFF2-40B4-BE49-F238E27FC236}">
                <a16:creationId xmlns:a16="http://schemas.microsoft.com/office/drawing/2014/main" id="{A39D863C-FDAA-2AF7-13F7-F4F8603DC3A4}"/>
              </a:ext>
            </a:extLst>
          </p:cNvPr>
          <p:cNvSpPr>
            <a:spLocks noGrp="1" noChangeArrowheads="1"/>
          </p:cNvSpPr>
          <p:nvPr>
            <p:ph type="body" sz="quarter" idx="13"/>
          </p:nvPr>
        </p:nvSpPr>
        <p:spPr bwMode="auto">
          <a:xfrm>
            <a:off x="3722913" y="1507287"/>
            <a:ext cx="149134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MySQL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MongoDB</a:t>
            </a:r>
          </a:p>
        </p:txBody>
      </p:sp>
      <p:sp>
        <p:nvSpPr>
          <p:cNvPr id="6" name="TextBox 5">
            <a:extLst>
              <a:ext uri="{FF2B5EF4-FFF2-40B4-BE49-F238E27FC236}">
                <a16:creationId xmlns:a16="http://schemas.microsoft.com/office/drawing/2014/main" id="{B3C7685A-DD0D-EE0A-C37B-74330ECBC6E3}"/>
              </a:ext>
            </a:extLst>
          </p:cNvPr>
          <p:cNvSpPr txBox="1"/>
          <p:nvPr/>
        </p:nvSpPr>
        <p:spPr>
          <a:xfrm>
            <a:off x="2909207" y="2690336"/>
            <a:ext cx="6188528" cy="2123658"/>
          </a:xfrm>
          <a:prstGeom prst="rect">
            <a:avLst/>
          </a:prstGeom>
          <a:noFill/>
        </p:spPr>
        <p:txBody>
          <a:bodyPr wrap="square">
            <a:spAutoFit/>
          </a:bodyPr>
          <a:lstStyle/>
          <a:p>
            <a:pPr>
              <a:buNone/>
            </a:pPr>
            <a:r>
              <a:rPr lang="en-US" sz="3600" b="1" dirty="0">
                <a:solidFill>
                  <a:schemeClr val="accent6">
                    <a:lumMod val="10000"/>
                  </a:schemeClr>
                </a:solidFill>
              </a:rPr>
              <a:t>Tools:</a:t>
            </a:r>
          </a:p>
          <a:p>
            <a:pPr>
              <a:buFont typeface="Arial" panose="020B0604020202020204" pitchFamily="34" charset="0"/>
              <a:buChar char="•"/>
            </a:pPr>
            <a:r>
              <a:rPr lang="en-US" sz="2400" dirty="0"/>
              <a:t>VS Code</a:t>
            </a:r>
          </a:p>
          <a:p>
            <a:pPr>
              <a:buFont typeface="Arial" panose="020B0604020202020204" pitchFamily="34" charset="0"/>
              <a:buChar char="•"/>
            </a:pPr>
            <a:r>
              <a:rPr lang="en-US" sz="2400" dirty="0"/>
              <a:t>GitHub</a:t>
            </a:r>
          </a:p>
          <a:p>
            <a:pPr>
              <a:buFont typeface="Arial" panose="020B0604020202020204" pitchFamily="34" charset="0"/>
              <a:buChar char="•"/>
            </a:pPr>
            <a:r>
              <a:rPr lang="en-US" sz="2400" dirty="0"/>
              <a:t>Figma (UI design)</a:t>
            </a:r>
          </a:p>
          <a:p>
            <a:pPr>
              <a:buFont typeface="Arial" panose="020B0604020202020204" pitchFamily="34" charset="0"/>
              <a:buChar char="•"/>
            </a:pPr>
            <a:r>
              <a:rPr lang="en-US" sz="2400" dirty="0"/>
              <a:t>Postman (API testing)</a:t>
            </a:r>
          </a:p>
        </p:txBody>
      </p:sp>
      <p:sp>
        <p:nvSpPr>
          <p:cNvPr id="8" name="TextBox 7">
            <a:extLst>
              <a:ext uri="{FF2B5EF4-FFF2-40B4-BE49-F238E27FC236}">
                <a16:creationId xmlns:a16="http://schemas.microsoft.com/office/drawing/2014/main" id="{F0D577DD-0558-AC3D-FFD8-23E61FE5DE83}"/>
              </a:ext>
            </a:extLst>
          </p:cNvPr>
          <p:cNvSpPr txBox="1"/>
          <p:nvPr/>
        </p:nvSpPr>
        <p:spPr>
          <a:xfrm>
            <a:off x="6368143" y="3105835"/>
            <a:ext cx="2729592" cy="1446550"/>
          </a:xfrm>
          <a:prstGeom prst="rect">
            <a:avLst/>
          </a:prstGeom>
          <a:noFill/>
        </p:spPr>
        <p:txBody>
          <a:bodyPr wrap="square">
            <a:spAutoFit/>
          </a:bodyPr>
          <a:lstStyle/>
          <a:p>
            <a:pPr>
              <a:buNone/>
            </a:pPr>
            <a:r>
              <a:rPr lang="en-US" sz="3200" dirty="0">
                <a:solidFill>
                  <a:srgbClr val="000000"/>
                </a:solidFill>
              </a:rPr>
              <a:t>Deployment:</a:t>
            </a:r>
          </a:p>
          <a:p>
            <a:pPr>
              <a:buFont typeface="Arial" panose="020B0604020202020204" pitchFamily="34" charset="0"/>
              <a:buChar char="•"/>
            </a:pPr>
            <a:r>
              <a:rPr lang="en-US" sz="2800" dirty="0"/>
              <a:t>Render / Netlify / Heroku</a:t>
            </a:r>
          </a:p>
        </p:txBody>
      </p:sp>
    </p:spTree>
    <p:extLst>
      <p:ext uri="{BB962C8B-B14F-4D97-AF65-F5344CB8AC3E}">
        <p14:creationId xmlns:p14="http://schemas.microsoft.com/office/powerpoint/2010/main" val="1096717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1023257" y="2039112"/>
            <a:ext cx="4576953" cy="3877055"/>
          </a:xfrm>
        </p:spPr>
        <p:txBody>
          <a:bodyPr>
            <a:normAutofit fontScale="92500" lnSpcReduction="20000"/>
          </a:bodyPr>
          <a:lstStyle/>
          <a:p>
            <a:r>
              <a:rPr lang="en-US" sz="2800" b="1" dirty="0"/>
              <a:t>1️⃣ Home Page</a:t>
            </a:r>
          </a:p>
          <a:p>
            <a:r>
              <a:rPr lang="en-US" sz="2400" dirty="0"/>
              <a:t>Logo: </a:t>
            </a:r>
            <a:r>
              <a:rPr lang="en-US" sz="2400" dirty="0" err="1"/>
              <a:t>SkillSwap</a:t>
            </a:r>
            <a:endParaRPr lang="en-US" sz="2400" dirty="0"/>
          </a:p>
          <a:p>
            <a:r>
              <a:rPr lang="en-US" sz="2400" dirty="0"/>
              <a:t>Search skills</a:t>
            </a:r>
          </a:p>
          <a:p>
            <a:r>
              <a:rPr lang="en-US" sz="2400" dirty="0"/>
              <a:t>Register / Login button</a:t>
            </a:r>
          </a:p>
          <a:p>
            <a:r>
              <a:rPr lang="en-US" sz="2400" dirty="0"/>
              <a:t>Featured skills section</a:t>
            </a:r>
          </a:p>
          <a:p>
            <a:r>
              <a:rPr lang="en-US" sz="2600" b="1" dirty="0"/>
              <a:t>2️⃣ User Dashboard</a:t>
            </a:r>
          </a:p>
          <a:p>
            <a:r>
              <a:rPr lang="en-US" dirty="0"/>
              <a:t>Profile picture</a:t>
            </a:r>
          </a:p>
          <a:p>
            <a:r>
              <a:rPr lang="en-US" dirty="0"/>
              <a:t>Skills I Can Teach</a:t>
            </a:r>
          </a:p>
          <a:p>
            <a:r>
              <a:rPr lang="en-US" dirty="0"/>
              <a:t>Skills I Want to Learn</a:t>
            </a:r>
          </a:p>
          <a:p>
            <a:r>
              <a:rPr lang="en-US" dirty="0"/>
              <a:t>Match Suggestions</a:t>
            </a:r>
          </a:p>
          <a:p>
            <a:r>
              <a:rPr lang="en-US" dirty="0"/>
              <a:t>Exchange Requests</a:t>
            </a:r>
          </a:p>
          <a:p>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4576953" cy="3877055"/>
          </a:xfrm>
        </p:spPr>
        <p:txBody>
          <a:bodyPr>
            <a:normAutofit lnSpcReduction="10000"/>
          </a:bodyPr>
          <a:lstStyle/>
          <a:p>
            <a:r>
              <a:rPr lang="en-US" sz="2400" b="1" dirty="0"/>
              <a:t>3️⃣ Skill Matching Page</a:t>
            </a:r>
          </a:p>
          <a:p>
            <a:r>
              <a:rPr lang="en-US" dirty="0"/>
              <a:t>Skill Name</a:t>
            </a:r>
          </a:p>
          <a:p>
            <a:r>
              <a:rPr lang="en-US" dirty="0"/>
              <a:t>Nearby Users</a:t>
            </a:r>
          </a:p>
          <a:p>
            <a:r>
              <a:rPr lang="en-US" dirty="0"/>
              <a:t>Rating</a:t>
            </a:r>
          </a:p>
          <a:p>
            <a:r>
              <a:rPr lang="en-US" dirty="0"/>
              <a:t>Request Exchange Button</a:t>
            </a:r>
          </a:p>
          <a:p>
            <a:r>
              <a:rPr lang="en-US" sz="2400" b="1" dirty="0"/>
              <a:t>4️⃣ Exchange Tracker</a:t>
            </a:r>
          </a:p>
          <a:p>
            <a:r>
              <a:rPr lang="en-US" dirty="0"/>
              <a:t>Ongoing Exchanges</a:t>
            </a:r>
          </a:p>
          <a:p>
            <a:r>
              <a:rPr lang="en-US" dirty="0"/>
              <a:t>Completed Exchanges</a:t>
            </a:r>
          </a:p>
          <a:p>
            <a:r>
              <a:rPr lang="en-US" dirty="0"/>
              <a:t>Reviews</a:t>
            </a:r>
          </a:p>
          <a:p>
            <a:r>
              <a:rPr lang="en-US" dirty="0"/>
              <a:t>Feedback.</a:t>
            </a:r>
          </a:p>
          <a:p>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4" name="Title 3">
            <a:extLst>
              <a:ext uri="{FF2B5EF4-FFF2-40B4-BE49-F238E27FC236}">
                <a16:creationId xmlns:a16="http://schemas.microsoft.com/office/drawing/2014/main" id="{E8CC8BDA-1236-2CD1-92CB-5F8F42326804}"/>
              </a:ext>
            </a:extLst>
          </p:cNvPr>
          <p:cNvSpPr>
            <a:spLocks noGrp="1"/>
          </p:cNvSpPr>
          <p:nvPr>
            <p:ph type="title"/>
          </p:nvPr>
        </p:nvSpPr>
        <p:spPr/>
        <p:txBody>
          <a:bodyPr/>
          <a:lstStyle/>
          <a:p>
            <a:r>
              <a:rPr lang="en-US" dirty="0"/>
              <a:t>Front-End View (Web Application)</a:t>
            </a:r>
          </a:p>
        </p:txBody>
      </p:sp>
    </p:spTree>
    <p:extLst>
      <p:ext uri="{BB962C8B-B14F-4D97-AF65-F5344CB8AC3E}">
        <p14:creationId xmlns:p14="http://schemas.microsoft.com/office/powerpoint/2010/main" val="4230106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EDC136F-D27C-F133-5269-9F4A84086EF1}"/>
              </a:ext>
            </a:extLst>
          </p:cNvPr>
          <p:cNvSpPr>
            <a:spLocks noGrp="1"/>
          </p:cNvSpPr>
          <p:nvPr>
            <p:ph type="title"/>
          </p:nvPr>
        </p:nvSpPr>
        <p:spPr/>
        <p:txBody>
          <a:bodyPr/>
          <a:lstStyle/>
          <a:p>
            <a:r>
              <a:rPr lang="en-US" dirty="0"/>
              <a:t>Results</a:t>
            </a:r>
          </a:p>
        </p:txBody>
      </p:sp>
      <p:sp>
        <p:nvSpPr>
          <p:cNvPr id="5" name="Slide Number Placeholder 4">
            <a:extLst>
              <a:ext uri="{FF2B5EF4-FFF2-40B4-BE49-F238E27FC236}">
                <a16:creationId xmlns:a16="http://schemas.microsoft.com/office/drawing/2014/main" id="{962AE7EC-8E3F-FD12-F87B-8056D09B4D28}"/>
              </a:ext>
            </a:extLst>
          </p:cNvPr>
          <p:cNvSpPr>
            <a:spLocks noGrp="1"/>
          </p:cNvSpPr>
          <p:nvPr>
            <p:ph type="sldNum" sz="quarter" idx="4"/>
          </p:nvPr>
        </p:nvSpPr>
        <p:spPr/>
        <p:txBody>
          <a:bodyPr/>
          <a:lstStyle/>
          <a:p>
            <a:fld id="{58FB4751-880F-D840-AAA9-3A15815CC996}" type="slidenum">
              <a:rPr lang="en-US" smtClean="0"/>
              <a:pPr/>
              <a:t>9</a:t>
            </a:fld>
            <a:endParaRPr lang="en-US" dirty="0"/>
          </a:p>
        </p:txBody>
      </p:sp>
      <p:sp>
        <p:nvSpPr>
          <p:cNvPr id="9" name="TextBox 8">
            <a:extLst>
              <a:ext uri="{FF2B5EF4-FFF2-40B4-BE49-F238E27FC236}">
                <a16:creationId xmlns:a16="http://schemas.microsoft.com/office/drawing/2014/main" id="{08FEB4C6-D711-A2A7-5FC0-6CBBD6A66A41}"/>
              </a:ext>
            </a:extLst>
          </p:cNvPr>
          <p:cNvSpPr txBox="1"/>
          <p:nvPr/>
        </p:nvSpPr>
        <p:spPr>
          <a:xfrm>
            <a:off x="1001487" y="2275114"/>
            <a:ext cx="3810000" cy="3108543"/>
          </a:xfrm>
          <a:prstGeom prst="rect">
            <a:avLst/>
          </a:prstGeom>
          <a:noFill/>
        </p:spPr>
        <p:txBody>
          <a:bodyPr wrap="square">
            <a:spAutoFit/>
          </a:bodyPr>
          <a:lstStyle/>
          <a:p>
            <a:pPr>
              <a:buFont typeface="Arial" panose="020B0604020202020204" pitchFamily="34" charset="0"/>
              <a:buChar char="•"/>
            </a:pPr>
            <a:r>
              <a:rPr lang="en-US" sz="2800" dirty="0"/>
              <a:t>Users can register their skills </a:t>
            </a:r>
          </a:p>
          <a:p>
            <a:pPr>
              <a:buFont typeface="Arial" panose="020B0604020202020204" pitchFamily="34" charset="0"/>
              <a:buChar char="•"/>
            </a:pPr>
            <a:r>
              <a:rPr lang="en-US" sz="2800" dirty="0"/>
              <a:t>System stores user data </a:t>
            </a:r>
          </a:p>
          <a:p>
            <a:pPr>
              <a:buFont typeface="Arial" panose="020B0604020202020204" pitchFamily="34" charset="0"/>
              <a:buChar char="•"/>
            </a:pPr>
            <a:r>
              <a:rPr lang="en-US" sz="2800" dirty="0"/>
              <a:t>Dashboard displays skill exchange options </a:t>
            </a:r>
          </a:p>
          <a:p>
            <a:pPr>
              <a:buFont typeface="Arial" panose="020B0604020202020204" pitchFamily="34" charset="0"/>
              <a:buChar char="•"/>
            </a:pPr>
            <a:r>
              <a:rPr lang="en-US" sz="2800" dirty="0"/>
              <a:t>Simple and user-friendly interface </a:t>
            </a:r>
          </a:p>
        </p:txBody>
      </p:sp>
      <p:pic>
        <p:nvPicPr>
          <p:cNvPr id="11" name="Picture 10">
            <a:extLst>
              <a:ext uri="{FF2B5EF4-FFF2-40B4-BE49-F238E27FC236}">
                <a16:creationId xmlns:a16="http://schemas.microsoft.com/office/drawing/2014/main" id="{C3C7378C-9F87-5747-0C10-3A3CDFA39A2E}"/>
              </a:ext>
            </a:extLst>
          </p:cNvPr>
          <p:cNvPicPr>
            <a:picLocks noChangeAspect="1"/>
          </p:cNvPicPr>
          <p:nvPr/>
        </p:nvPicPr>
        <p:blipFill>
          <a:blip r:embed="rId2"/>
          <a:stretch>
            <a:fillRect/>
          </a:stretch>
        </p:blipFill>
        <p:spPr>
          <a:xfrm>
            <a:off x="5388428" y="2471604"/>
            <a:ext cx="4376058" cy="1697625"/>
          </a:xfrm>
          <a:prstGeom prst="rect">
            <a:avLst/>
          </a:prstGeom>
        </p:spPr>
      </p:pic>
    </p:spTree>
    <p:extLst>
      <p:ext uri="{BB962C8B-B14F-4D97-AF65-F5344CB8AC3E}">
        <p14:creationId xmlns:p14="http://schemas.microsoft.com/office/powerpoint/2010/main" val="3815318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A5855BD-A8A0-19DB-A3A1-2D9B92599AC3}"/>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
        <p:nvSpPr>
          <p:cNvPr id="2" name="Title 1">
            <a:extLst>
              <a:ext uri="{FF2B5EF4-FFF2-40B4-BE49-F238E27FC236}">
                <a16:creationId xmlns:a16="http://schemas.microsoft.com/office/drawing/2014/main" id="{7DE3769B-EBFF-C7BB-FD15-397DE97077FD}"/>
              </a:ext>
            </a:extLst>
          </p:cNvPr>
          <p:cNvSpPr>
            <a:spLocks noGrp="1"/>
          </p:cNvSpPr>
          <p:nvPr>
            <p:ph type="title" idx="4294967295"/>
          </p:nvPr>
        </p:nvSpPr>
        <p:spPr>
          <a:xfrm>
            <a:off x="0" y="914400"/>
            <a:ext cx="10360025" cy="914400"/>
          </a:xfrm>
        </p:spPr>
        <p:txBody>
          <a:bodyPr/>
          <a:lstStyle/>
          <a:p>
            <a:r>
              <a:rPr lang="en-US" b="1" dirty="0"/>
              <a:t>Future Scope</a:t>
            </a:r>
            <a:br>
              <a:rPr lang="en-US" b="1" dirty="0"/>
            </a:br>
            <a:endParaRPr lang="en-US" dirty="0"/>
          </a:p>
        </p:txBody>
      </p:sp>
      <p:sp>
        <p:nvSpPr>
          <p:cNvPr id="6" name="Content Placeholder 2">
            <a:extLst>
              <a:ext uri="{FF2B5EF4-FFF2-40B4-BE49-F238E27FC236}">
                <a16:creationId xmlns:a16="http://schemas.microsoft.com/office/drawing/2014/main" id="{58B566F4-8223-9B0D-3BF6-CBFB992EC8DB}"/>
              </a:ext>
            </a:extLst>
          </p:cNvPr>
          <p:cNvSpPr txBox="1">
            <a:spLocks/>
          </p:cNvSpPr>
          <p:nvPr/>
        </p:nvSpPr>
        <p:spPr>
          <a:xfrm>
            <a:off x="0" y="2038351"/>
            <a:ext cx="11734800" cy="3589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a:t>
            </a:r>
            <a:r>
              <a:rPr lang="en-US" sz="2400" dirty="0" err="1"/>
              <a:t>SkillSwap</a:t>
            </a:r>
            <a:r>
              <a:rPr lang="en-US" sz="2400" dirty="0"/>
              <a:t> platform can be further enhanced by adding advanced features to improve user experience and functionality. In the future, artificial intelligence can be integrated to provide automatic skill matching based on user interests and behavior. Location-based services can be added to connect users within nearby areas more effectively. A chat or messaging system can also be included to allow users to communicate and schedule learning sessions easily. Additionally, the platform can be developed into a mobile application for better accessibility. Features like user ratings, reviews, and certification can further improve trust and engagement. With these improvements, </a:t>
            </a:r>
            <a:r>
              <a:rPr lang="en-US" sz="2400" dirty="0" err="1"/>
              <a:t>SkillSwap</a:t>
            </a:r>
            <a:r>
              <a:rPr lang="en-US" sz="2400" dirty="0"/>
              <a:t> can grow into a large-scale community platform for collaborative learning and skill development.</a:t>
            </a:r>
          </a:p>
        </p:txBody>
      </p:sp>
    </p:spTree>
    <p:extLst>
      <p:ext uri="{BB962C8B-B14F-4D97-AF65-F5344CB8AC3E}">
        <p14:creationId xmlns:p14="http://schemas.microsoft.com/office/powerpoint/2010/main" val="1440587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E6F488-4141-9934-FE85-AC2B07F26F71}"/>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
        <p:nvSpPr>
          <p:cNvPr id="4" name="TextBox 3">
            <a:extLst>
              <a:ext uri="{FF2B5EF4-FFF2-40B4-BE49-F238E27FC236}">
                <a16:creationId xmlns:a16="http://schemas.microsoft.com/office/drawing/2014/main" id="{9B005AB5-95EA-33A9-372B-7CD61DABA0F9}"/>
              </a:ext>
            </a:extLst>
          </p:cNvPr>
          <p:cNvSpPr txBox="1"/>
          <p:nvPr/>
        </p:nvSpPr>
        <p:spPr>
          <a:xfrm>
            <a:off x="740229" y="653142"/>
            <a:ext cx="8499021" cy="707886"/>
          </a:xfrm>
          <a:prstGeom prst="rect">
            <a:avLst/>
          </a:prstGeom>
          <a:noFill/>
        </p:spPr>
        <p:txBody>
          <a:bodyPr wrap="square">
            <a:spAutoFit/>
          </a:bodyPr>
          <a:lstStyle/>
          <a:p>
            <a:r>
              <a:rPr lang="en-US" sz="4000" b="1" dirty="0"/>
              <a:t>References</a:t>
            </a:r>
          </a:p>
        </p:txBody>
      </p:sp>
      <p:sp>
        <p:nvSpPr>
          <p:cNvPr id="6" name="TextBox 5">
            <a:extLst>
              <a:ext uri="{FF2B5EF4-FFF2-40B4-BE49-F238E27FC236}">
                <a16:creationId xmlns:a16="http://schemas.microsoft.com/office/drawing/2014/main" id="{FF69B276-5269-7404-04EE-A5FEF5007530}"/>
              </a:ext>
            </a:extLst>
          </p:cNvPr>
          <p:cNvSpPr txBox="1"/>
          <p:nvPr/>
        </p:nvSpPr>
        <p:spPr>
          <a:xfrm>
            <a:off x="740229" y="1752600"/>
            <a:ext cx="8411935" cy="2062103"/>
          </a:xfrm>
          <a:prstGeom prst="rect">
            <a:avLst/>
          </a:prstGeom>
          <a:noFill/>
        </p:spPr>
        <p:txBody>
          <a:bodyPr wrap="square">
            <a:spAutoFit/>
          </a:bodyPr>
          <a:lstStyle/>
          <a:p>
            <a:pPr>
              <a:buFont typeface="Arial" panose="020B0604020202020204" pitchFamily="34" charset="0"/>
              <a:buChar char="•"/>
            </a:pPr>
            <a:r>
              <a:rPr lang="en-US" sz="3200" dirty="0"/>
              <a:t> Flask Documentation </a:t>
            </a:r>
          </a:p>
          <a:p>
            <a:pPr>
              <a:buFont typeface="Arial" panose="020B0604020202020204" pitchFamily="34" charset="0"/>
              <a:buChar char="•"/>
            </a:pPr>
            <a:r>
              <a:rPr lang="en-US" sz="3200" dirty="0"/>
              <a:t> W3Schools </a:t>
            </a:r>
          </a:p>
          <a:p>
            <a:pPr>
              <a:buFont typeface="Arial" panose="020B0604020202020204" pitchFamily="34" charset="0"/>
              <a:buChar char="•"/>
            </a:pPr>
            <a:r>
              <a:rPr lang="en-US" sz="3200" dirty="0"/>
              <a:t> Research articles </a:t>
            </a:r>
          </a:p>
          <a:p>
            <a:pPr>
              <a:buFont typeface="Arial" panose="020B0604020202020204" pitchFamily="34" charset="0"/>
              <a:buChar char="•"/>
            </a:pPr>
            <a:r>
              <a:rPr lang="en-US" sz="3200" dirty="0"/>
              <a:t> Google </a:t>
            </a:r>
          </a:p>
        </p:txBody>
      </p:sp>
    </p:spTree>
    <p:extLst>
      <p:ext uri="{BB962C8B-B14F-4D97-AF65-F5344CB8AC3E}">
        <p14:creationId xmlns:p14="http://schemas.microsoft.com/office/powerpoint/2010/main" val="2483875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EB961B-2434-6F1E-A03F-E2DD88A53FDE}"/>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
        <p:nvSpPr>
          <p:cNvPr id="4" name="TextBox 3">
            <a:extLst>
              <a:ext uri="{FF2B5EF4-FFF2-40B4-BE49-F238E27FC236}">
                <a16:creationId xmlns:a16="http://schemas.microsoft.com/office/drawing/2014/main" id="{A6669E7B-AA9F-9463-C716-06039BC4E45F}"/>
              </a:ext>
            </a:extLst>
          </p:cNvPr>
          <p:cNvSpPr txBox="1"/>
          <p:nvPr/>
        </p:nvSpPr>
        <p:spPr>
          <a:xfrm>
            <a:off x="707571" y="1578430"/>
            <a:ext cx="8444593" cy="3046988"/>
          </a:xfrm>
          <a:prstGeom prst="rect">
            <a:avLst/>
          </a:prstGeom>
          <a:noFill/>
        </p:spPr>
        <p:txBody>
          <a:bodyPr wrap="square">
            <a:spAutoFit/>
          </a:bodyPr>
          <a:lstStyle/>
          <a:p>
            <a:r>
              <a:rPr lang="en-US" sz="3200" dirty="0"/>
              <a:t>In conclusion, </a:t>
            </a:r>
            <a:r>
              <a:rPr lang="en-US" sz="3200" dirty="0" err="1"/>
              <a:t>SkillSwap</a:t>
            </a:r>
            <a:r>
              <a:rPr lang="en-US" sz="3200" dirty="0"/>
              <a:t> is a simple web application that helps people learn and share skills without money. It connects users and makes learning easy, useful, and interactive. This project shows how technology can solve real-life problems in a simple way.</a:t>
            </a:r>
          </a:p>
        </p:txBody>
      </p:sp>
      <p:sp>
        <p:nvSpPr>
          <p:cNvPr id="6" name="TextBox 5">
            <a:extLst>
              <a:ext uri="{FF2B5EF4-FFF2-40B4-BE49-F238E27FC236}">
                <a16:creationId xmlns:a16="http://schemas.microsoft.com/office/drawing/2014/main" id="{025A8892-1A86-94A6-9E96-420C35022C22}"/>
              </a:ext>
            </a:extLst>
          </p:cNvPr>
          <p:cNvSpPr txBox="1"/>
          <p:nvPr/>
        </p:nvSpPr>
        <p:spPr>
          <a:xfrm>
            <a:off x="555171" y="914400"/>
            <a:ext cx="8596993" cy="584775"/>
          </a:xfrm>
          <a:prstGeom prst="rect">
            <a:avLst/>
          </a:prstGeom>
          <a:noFill/>
        </p:spPr>
        <p:txBody>
          <a:bodyPr wrap="square">
            <a:spAutoFit/>
          </a:bodyPr>
          <a:lstStyle/>
          <a:p>
            <a:r>
              <a:rPr lang="en-US" sz="3200" b="1" dirty="0"/>
              <a:t>Conclusion</a:t>
            </a:r>
            <a:r>
              <a:rPr lang="en-US" dirty="0"/>
              <a:t> </a:t>
            </a:r>
          </a:p>
        </p:txBody>
      </p:sp>
    </p:spTree>
    <p:extLst>
      <p:ext uri="{BB962C8B-B14F-4D97-AF65-F5344CB8AC3E}">
        <p14:creationId xmlns:p14="http://schemas.microsoft.com/office/powerpoint/2010/main" val="2076886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       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{C5D918DA-5598-45E7-9A62-AE4ACFA3D4C3}TF1ed9553b-00c4-4092-846a-c8f7f2908f3beecd942f_win32-8e33096c3cfc</Template>
  <TotalTime>168</TotalTime>
  <Words>520</Words>
  <Application>Microsoft Office PowerPoint</Application>
  <PresentationFormat>Widescreen</PresentationFormat>
  <Paragraphs>94</Paragraphs>
  <Slides>13</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Gill Sans Nova Light</vt:lpstr>
      <vt:lpstr>Sagona Book</vt:lpstr>
      <vt:lpstr>Custom</vt:lpstr>
      <vt:lpstr>SKILL SWAP – HYPERLOCAL SKILL EXCHANGE WEB APPLICATION.</vt:lpstr>
      <vt:lpstr>TEAM DETAILS:  GUIDE NAME : DR.V.VENKATARAMANA.</vt:lpstr>
      <vt:lpstr>Problem Statement</vt:lpstr>
      <vt:lpstr> OBJECTIVES   -&gt;To create a platform for skill exchanging without money.  -&gt; To encourage peer-to-peer learning.  -&gt;To connect students and local community members based on skills.  -&gt;To provide a digital portfolio for users.  -&gt;To promote collaborative learning in local areas.   -&gt;To reduce dependency on paid learning platforms. </vt:lpstr>
      <vt:lpstr>Stakeholders:</vt:lpstr>
      <vt:lpstr>Programming Languages, Tools &amp; Software:</vt:lpstr>
      <vt:lpstr>Database:  </vt:lpstr>
      <vt:lpstr>Front-End View (Web Application)</vt:lpstr>
      <vt:lpstr>Results</vt:lpstr>
      <vt:lpstr>Future Scope </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3</cp:revision>
  <dcterms:created xsi:type="dcterms:W3CDTF">2026-02-22T05:09:31Z</dcterms:created>
  <dcterms:modified xsi:type="dcterms:W3CDTF">2026-04-15T17:29:41Z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